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9" r:id="rId4"/>
    <p:sldId id="258" r:id="rId5"/>
    <p:sldId id="263" r:id="rId6"/>
    <p:sldId id="267" r:id="rId7"/>
    <p:sldId id="268" r:id="rId8"/>
    <p:sldId id="260" r:id="rId9"/>
    <p:sldId id="261" r:id="rId10"/>
    <p:sldId id="262" r:id="rId11"/>
    <p:sldId id="265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884"/>
  </p:normalViewPr>
  <p:slideViewPr>
    <p:cSldViewPr snapToGrid="0" snapToObjects="1">
      <p:cViewPr varScale="1">
        <p:scale>
          <a:sx n="114" d="100"/>
          <a:sy n="114" d="100"/>
        </p:scale>
        <p:origin x="3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11/4/19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11/4/19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11/4/19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11/4/19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11/4/19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11/4/19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11/4/19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11/4/19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11/4/19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11/4/19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11/4/19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11/4/19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enapr/tdt-demo.git" TargetMode="External"/><Relationship Id="rId2" Type="http://schemas.openxmlformats.org/officeDocument/2006/relationships/hyperlink" Target="https://www.fishingmall.ro/ro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hucydides.info/#/" TargetMode="External"/><Relationship Id="rId7" Type="http://schemas.openxmlformats.org/officeDocument/2006/relationships/hyperlink" Target="http://angiejones.tech/writing-good-gherkin-enables-good-test-automation/" TargetMode="External"/><Relationship Id="rId2" Type="http://schemas.openxmlformats.org/officeDocument/2006/relationships/hyperlink" Target="https://cucumber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estautomationu.applitools.com/" TargetMode="External"/><Relationship Id="rId5" Type="http://schemas.openxmlformats.org/officeDocument/2006/relationships/hyperlink" Target="https://johnfergusonsmart.com/getting-started-with-rest-api-testing-with-serenity-and-cucumber/" TargetMode="External"/><Relationship Id="rId4" Type="http://schemas.openxmlformats.org/officeDocument/2006/relationships/hyperlink" Target="https://cucumber.io/docs/gherkin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elena-p%C4%83duraru-613bb778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8A4DBD17-19AD-4376-A55A-C527EF944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7DB7C943-6BFC-4A35-8DFA-0B204CD18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7552943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FFB69-D892-2046-A583-A6E91EE9F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2828924"/>
            <a:ext cx="6068070" cy="1724787"/>
          </a:xfrm>
        </p:spPr>
        <p:txBody>
          <a:bodyPr>
            <a:normAutofit/>
          </a:bodyPr>
          <a:lstStyle/>
          <a:p>
            <a:r>
              <a:rPr lang="en-US" sz="4600" dirty="0">
                <a:latin typeface="American Typewriter" panose="02090604020004020304" pitchFamily="18" charset="77"/>
              </a:rPr>
              <a:t>Hai la </a:t>
            </a:r>
            <a:r>
              <a:rPr lang="en-US" sz="4600" dirty="0" err="1">
                <a:latin typeface="American Typewriter" panose="02090604020004020304" pitchFamily="18" charset="77"/>
              </a:rPr>
              <a:t>pescuit</a:t>
            </a:r>
            <a:r>
              <a:rPr lang="en-US" sz="4600" dirty="0">
                <a:latin typeface="American Typewriter" panose="02090604020004020304" pitchFamily="18" charset="77"/>
              </a:rPr>
              <a:t> cu </a:t>
            </a:r>
            <a:r>
              <a:rPr lang="en-US" sz="4600" dirty="0" err="1">
                <a:latin typeface="American Typewriter" panose="02090604020004020304" pitchFamily="18" charset="77"/>
              </a:rPr>
              <a:t>Serenity&amp;Cucumber</a:t>
            </a:r>
            <a:endParaRPr lang="en-US" sz="4600" dirty="0">
              <a:latin typeface="American Typewriter" panose="02090604020004020304" pitchFamily="18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66E7D-29B1-E543-B2F4-3C8DAC536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4" y="4670246"/>
            <a:ext cx="6037903" cy="91440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American Typewriter" panose="02090604020004020304" pitchFamily="18" charset="77"/>
              </a:rPr>
              <a:t>Elena </a:t>
            </a:r>
            <a:r>
              <a:rPr lang="en-US" sz="2200" dirty="0" err="1">
                <a:latin typeface="American Typewriter" panose="02090604020004020304" pitchFamily="18" charset="77"/>
              </a:rPr>
              <a:t>Păduraru</a:t>
            </a:r>
            <a:endParaRPr lang="en-US" sz="2200" dirty="0">
              <a:latin typeface="American Typewriter" panose="02090604020004020304" pitchFamily="18" charset="77"/>
            </a:endParaRPr>
          </a:p>
          <a:p>
            <a:r>
              <a:rPr lang="en-US" sz="2200" dirty="0">
                <a:latin typeface="American Typewriter" panose="02090604020004020304" pitchFamily="18" charset="77"/>
              </a:rPr>
              <a:t>Agile tester @</a:t>
            </a:r>
            <a:r>
              <a:rPr lang="en-US" sz="2200" dirty="0" err="1">
                <a:solidFill>
                  <a:schemeClr val="bg1"/>
                </a:solidFill>
                <a:latin typeface="American Typewriter" panose="02090604020004020304" pitchFamily="18" charset="77"/>
              </a:rPr>
              <a:t>Kambi</a:t>
            </a:r>
            <a:endParaRPr lang="en-US" sz="2200" dirty="0">
              <a:solidFill>
                <a:schemeClr val="bg1"/>
              </a:solidFill>
              <a:latin typeface="American Typewriter" panose="02090604020004020304" pitchFamily="18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6DAD90-FBAE-2846-AFF0-92327B9A07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65000"/>
                    </a14:imgEffect>
                  </a14:imgLayer>
                </a14:imgProps>
              </a:ext>
            </a:extLst>
          </a:blip>
          <a:srcRect l="21097" r="14030" b="3"/>
          <a:stretch/>
        </p:blipFill>
        <p:spPr>
          <a:xfrm>
            <a:off x="8037574" y="759599"/>
            <a:ext cx="3458249" cy="5330650"/>
          </a:xfrm>
          <a:prstGeom prst="rect">
            <a:avLst/>
          </a:prstGeom>
        </p:spPr>
      </p:pic>
      <p:sp>
        <p:nvSpPr>
          <p:cNvPr id="18" name="Rectangle 13">
            <a:extLst>
              <a:ext uri="{FF2B5EF4-FFF2-40B4-BE49-F238E27FC236}">
                <a16:creationId xmlns:a16="http://schemas.microsoft.com/office/drawing/2014/main" id="{79DF27D9-327F-4301-A56A-9A8EC61E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2932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3AAC-FBFA-3B48-BDD9-2655F6A8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merican Typewriter" panose="02090604020004020304" pitchFamily="18" charset="77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6FAD2-DEF3-654B-9010-84388A671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merican Typewriter" panose="02090604020004020304" pitchFamily="18" charset="77"/>
              </a:rPr>
              <a:t>Așteptări</a:t>
            </a:r>
            <a:endParaRPr lang="en-US" dirty="0">
              <a:latin typeface="American Typewriter" panose="02090604020004020304" pitchFamily="18" charset="77"/>
            </a:endParaRPr>
          </a:p>
          <a:p>
            <a:r>
              <a:rPr lang="en-US" dirty="0">
                <a:latin typeface="American Typewriter" panose="02090604020004020304" pitchFamily="18" charset="77"/>
              </a:rPr>
              <a:t>Cucumber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Gherkin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Serenity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Test reports</a:t>
            </a:r>
          </a:p>
          <a:p>
            <a:r>
              <a:rPr lang="en-US" dirty="0" err="1">
                <a:latin typeface="American Typewriter" panose="02090604020004020304" pitchFamily="18" charset="77"/>
              </a:rPr>
              <a:t>Documentație</a:t>
            </a:r>
            <a:endParaRPr lang="en-US" dirty="0"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50303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6444C-C98C-BD48-BE3F-2319B39AC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merican Typewriter" panose="02090604020004020304" pitchFamily="18" charset="77"/>
              </a:rPr>
              <a:t>Cucumber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91182-DD8D-0848-A7EE-85B273538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merican Typewriter" panose="02090604020004020304" pitchFamily="18" charset="77"/>
              </a:rPr>
              <a:t>Free, open source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O </a:t>
            </a:r>
            <a:r>
              <a:rPr lang="en-US" dirty="0" err="1">
                <a:latin typeface="American Typewriter" panose="02090604020004020304" pitchFamily="18" charset="77"/>
              </a:rPr>
              <a:t>unealtă</a:t>
            </a:r>
            <a:r>
              <a:rPr lang="en-US" dirty="0">
                <a:latin typeface="American Typewriter" panose="02090604020004020304" pitchFamily="18" charset="77"/>
              </a:rPr>
              <a:t> BDD (</a:t>
            </a:r>
            <a:r>
              <a:rPr lang="en-US" dirty="0" err="1">
                <a:latin typeface="American Typewriter" panose="02090604020004020304" pitchFamily="18" charset="77"/>
              </a:rPr>
              <a:t>behaviour</a:t>
            </a:r>
            <a:r>
              <a:rPr lang="en-US" dirty="0">
                <a:latin typeface="American Typewriter" panose="02090604020004020304" pitchFamily="18" charset="77"/>
              </a:rPr>
              <a:t>-data-driven)</a:t>
            </a:r>
          </a:p>
          <a:p>
            <a:r>
              <a:rPr lang="en-US" dirty="0" err="1">
                <a:latin typeface="American Typewriter" panose="02090604020004020304" pitchFamily="18" charset="77"/>
              </a:rPr>
              <a:t>Execută</a:t>
            </a:r>
            <a:r>
              <a:rPr lang="en-US" dirty="0">
                <a:latin typeface="American Typewriter" panose="02090604020004020304" pitchFamily="18" charset="77"/>
              </a:rPr>
              <a:t> </a:t>
            </a:r>
            <a:r>
              <a:rPr lang="en-US" dirty="0" err="1">
                <a:latin typeface="American Typewriter" panose="02090604020004020304" pitchFamily="18" charset="77"/>
              </a:rPr>
              <a:t>scenarii</a:t>
            </a:r>
            <a:r>
              <a:rPr lang="en-US" dirty="0">
                <a:latin typeface="American Typewriter" panose="02090604020004020304" pitchFamily="18" charset="77"/>
              </a:rPr>
              <a:t> </a:t>
            </a:r>
            <a:r>
              <a:rPr lang="en-US" dirty="0" err="1">
                <a:latin typeface="American Typewriter" panose="02090604020004020304" pitchFamily="18" charset="77"/>
              </a:rPr>
              <a:t>descrise</a:t>
            </a:r>
            <a:r>
              <a:rPr lang="en-US" dirty="0">
                <a:latin typeface="American Typewriter" panose="02090604020004020304" pitchFamily="18" charset="77"/>
              </a:rPr>
              <a:t> in Gherkin</a:t>
            </a:r>
          </a:p>
          <a:p>
            <a:r>
              <a:rPr lang="en-US" dirty="0" err="1">
                <a:latin typeface="American Typewriter" panose="02090604020004020304" pitchFamily="18" charset="77"/>
              </a:rPr>
              <a:t>Generează</a:t>
            </a:r>
            <a:r>
              <a:rPr lang="en-US" dirty="0">
                <a:latin typeface="American Typewriter" panose="02090604020004020304" pitchFamily="18" charset="77"/>
              </a:rPr>
              <a:t> automat </a:t>
            </a:r>
            <a:r>
              <a:rPr lang="en-US" dirty="0" err="1">
                <a:latin typeface="American Typewriter" panose="02090604020004020304" pitchFamily="18" charset="77"/>
              </a:rPr>
              <a:t>metode</a:t>
            </a:r>
            <a:r>
              <a:rPr lang="en-US" dirty="0">
                <a:latin typeface="American Typewriter" panose="02090604020004020304" pitchFamily="18" charset="77"/>
              </a:rPr>
              <a:t> </a:t>
            </a:r>
            <a:r>
              <a:rPr lang="en-US" dirty="0" err="1">
                <a:latin typeface="American Typewriter" panose="02090604020004020304" pitchFamily="18" charset="77"/>
              </a:rPr>
              <a:t>pentru</a:t>
            </a:r>
            <a:r>
              <a:rPr lang="en-US" dirty="0">
                <a:latin typeface="American Typewriter" panose="02090604020004020304" pitchFamily="18" charset="77"/>
              </a:rPr>
              <a:t> </a:t>
            </a:r>
            <a:r>
              <a:rPr lang="en-US" dirty="0" err="1">
                <a:latin typeface="American Typewriter" panose="02090604020004020304" pitchFamily="18" charset="77"/>
              </a:rPr>
              <a:t>fiecare</a:t>
            </a:r>
            <a:r>
              <a:rPr lang="en-US" dirty="0">
                <a:latin typeface="American Typewriter" panose="02090604020004020304" pitchFamily="18" charset="77"/>
              </a:rPr>
              <a:t> pas</a:t>
            </a:r>
          </a:p>
          <a:p>
            <a:pPr marL="0" indent="0">
              <a:buNone/>
            </a:pPr>
            <a:endParaRPr lang="en-US" dirty="0">
              <a:latin typeface="American Typewriter" panose="02090604020004020304" pitchFamily="18" charset="77"/>
            </a:endParaRPr>
          </a:p>
          <a:p>
            <a:endParaRPr lang="en-US" dirty="0"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34559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CE540-E748-B644-96BC-3F6DEDCBF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merican Typewriter" panose="02090604020004020304" pitchFamily="18" charset="77"/>
              </a:rPr>
              <a:t>Gherkin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75643-D025-8E4F-95B4-CE4D3CD3E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merican Typewriter" panose="02090604020004020304" pitchFamily="18" charset="77"/>
              </a:rPr>
              <a:t>Plain text</a:t>
            </a:r>
          </a:p>
          <a:p>
            <a:r>
              <a:rPr lang="en-US" dirty="0" err="1">
                <a:latin typeface="American Typewriter" panose="02090604020004020304" pitchFamily="18" charset="77"/>
              </a:rPr>
              <a:t>Tradus</a:t>
            </a:r>
            <a:r>
              <a:rPr lang="en-US" dirty="0">
                <a:latin typeface="American Typewriter" panose="02090604020004020304" pitchFamily="18" charset="77"/>
              </a:rPr>
              <a:t> </a:t>
            </a:r>
            <a:r>
              <a:rPr lang="en-US" dirty="0" err="1">
                <a:latin typeface="American Typewriter" panose="02090604020004020304" pitchFamily="18" charset="77"/>
              </a:rPr>
              <a:t>în</a:t>
            </a:r>
            <a:r>
              <a:rPr lang="en-US" dirty="0">
                <a:latin typeface="American Typewriter" panose="02090604020004020304" pitchFamily="18" charset="77"/>
              </a:rPr>
              <a:t> </a:t>
            </a:r>
            <a:r>
              <a:rPr lang="en-US" dirty="0" err="1">
                <a:latin typeface="American Typewriter" panose="02090604020004020304" pitchFamily="18" charset="77"/>
              </a:rPr>
              <a:t>peste</a:t>
            </a:r>
            <a:r>
              <a:rPr lang="en-US" dirty="0">
                <a:latin typeface="American Typewriter" panose="02090604020004020304" pitchFamily="18" charset="77"/>
              </a:rPr>
              <a:t> 70 limbi</a:t>
            </a:r>
          </a:p>
          <a:p>
            <a:r>
              <a:rPr lang="en-US" dirty="0" err="1">
                <a:latin typeface="American Typewriter" panose="02090604020004020304" pitchFamily="18" charset="77"/>
              </a:rPr>
              <a:t>Cuvinte</a:t>
            </a:r>
            <a:r>
              <a:rPr lang="en-US" dirty="0">
                <a:latin typeface="American Typewriter" panose="02090604020004020304" pitchFamily="18" charset="77"/>
              </a:rPr>
              <a:t> </a:t>
            </a:r>
            <a:r>
              <a:rPr lang="en-US" dirty="0" err="1">
                <a:latin typeface="American Typewriter" panose="02090604020004020304" pitchFamily="18" charset="77"/>
              </a:rPr>
              <a:t>cheie</a:t>
            </a:r>
            <a:endParaRPr lang="en-US" dirty="0">
              <a:latin typeface="American Typewriter" panose="02090604020004020304" pitchFamily="18" charset="77"/>
            </a:endParaRPr>
          </a:p>
          <a:p>
            <a:pPr lvl="1"/>
            <a:r>
              <a:rPr lang="en-US" dirty="0">
                <a:latin typeface="American Typewriter" panose="02090604020004020304" pitchFamily="18" charset="77"/>
              </a:rPr>
              <a:t>Feature</a:t>
            </a:r>
          </a:p>
          <a:p>
            <a:pPr lvl="1"/>
            <a:r>
              <a:rPr lang="en-US" dirty="0">
                <a:latin typeface="American Typewriter" panose="02090604020004020304" pitchFamily="18" charset="77"/>
              </a:rPr>
              <a:t>Background</a:t>
            </a:r>
          </a:p>
          <a:p>
            <a:pPr lvl="1"/>
            <a:r>
              <a:rPr lang="en-US" dirty="0">
                <a:latin typeface="American Typewriter" panose="02090604020004020304" pitchFamily="18" charset="77"/>
              </a:rPr>
              <a:t>Scenario</a:t>
            </a:r>
          </a:p>
          <a:p>
            <a:pPr lvl="1"/>
            <a:r>
              <a:rPr lang="en-US" dirty="0">
                <a:latin typeface="American Typewriter" panose="02090604020004020304" pitchFamily="18" charset="77"/>
              </a:rPr>
              <a:t>Given, When, Then, And, But</a:t>
            </a:r>
          </a:p>
          <a:p>
            <a:pPr lvl="1"/>
            <a:r>
              <a:rPr lang="en-US" dirty="0">
                <a:latin typeface="American Typewriter" panose="02090604020004020304" pitchFamily="18" charset="77"/>
              </a:rPr>
              <a:t>Examples</a:t>
            </a:r>
          </a:p>
          <a:p>
            <a:pPr marL="502920" lvl="1" indent="0">
              <a:buNone/>
            </a:pPr>
            <a:endParaRPr lang="en-US" dirty="0"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43400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A99FE-DBC9-AC4B-8D62-0CD7652D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Gherkin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A08F51-9690-774B-A68C-C5AC290B9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D36916-CF97-604B-A15A-93AF0CFE33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" r="1"/>
          <a:stretch/>
        </p:blipFill>
        <p:spPr>
          <a:xfrm>
            <a:off x="3971924" y="2568576"/>
            <a:ext cx="5505670" cy="14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5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4071-DBE8-C94F-91EA-4CC6DD487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Structura</a:t>
            </a:r>
            <a:r>
              <a:rPr lang="en-US" dirty="0"/>
              <a:t> Cucumber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807667-8F52-8D45-A00D-1F229C3070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4819" y="863600"/>
            <a:ext cx="6383038" cy="5121275"/>
          </a:xfrm>
        </p:spPr>
      </p:pic>
    </p:spTree>
    <p:extLst>
      <p:ext uri="{BB962C8B-B14F-4D97-AF65-F5344CB8AC3E}">
        <p14:creationId xmlns:p14="http://schemas.microsoft.com/office/powerpoint/2010/main" val="3484967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9D6E-40EB-4049-AD61-CA41DD059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Partea</a:t>
            </a:r>
            <a:r>
              <a:rPr lang="en-US" sz="2800" dirty="0"/>
              <a:t> </a:t>
            </a:r>
            <a:r>
              <a:rPr lang="en-US" sz="2800" dirty="0" err="1"/>
              <a:t>practica</a:t>
            </a:r>
            <a:r>
              <a:rPr lang="en-US" sz="2800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12BDB-5046-6C44-8ADA-4365A4247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o-RO" dirty="0">
                <a:hlinkClick r:id="rId2"/>
              </a:rPr>
              <a:t>https://www.fishingmall.ro/ro</a:t>
            </a: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ro-RO" dirty="0" err="1"/>
              <a:t>git</a:t>
            </a:r>
            <a:r>
              <a:rPr lang="ro-RO" dirty="0"/>
              <a:t> clone </a:t>
            </a:r>
            <a:r>
              <a:rPr lang="ro-RO" dirty="0">
                <a:hlinkClick r:id="rId3"/>
              </a:rPr>
              <a:t>https://github.com/elenapr/tdt-demo.git</a:t>
            </a: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ro-RO" dirty="0" err="1"/>
              <a:t>Install</a:t>
            </a:r>
            <a:r>
              <a:rPr lang="ro-RO" dirty="0"/>
              <a:t> </a:t>
            </a:r>
            <a:r>
              <a:rPr lang="ro-RO" dirty="0" err="1"/>
              <a:t>gherkin</a:t>
            </a:r>
            <a:r>
              <a:rPr lang="ro-RO" dirty="0"/>
              <a:t> </a:t>
            </a:r>
            <a:r>
              <a:rPr lang="ro-RO" dirty="0" err="1"/>
              <a:t>and</a:t>
            </a:r>
            <a:r>
              <a:rPr lang="ro-RO" dirty="0"/>
              <a:t> </a:t>
            </a:r>
            <a:r>
              <a:rPr lang="ro-RO" dirty="0" err="1"/>
              <a:t>cucumber</a:t>
            </a:r>
            <a:r>
              <a:rPr lang="ro-RO" dirty="0"/>
              <a:t> </a:t>
            </a:r>
            <a:r>
              <a:rPr lang="ro-RO" dirty="0" err="1"/>
              <a:t>plugins</a:t>
            </a: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ro-RO" dirty="0" err="1"/>
              <a:t>Add</a:t>
            </a:r>
            <a:r>
              <a:rPr lang="ro-RO" dirty="0"/>
              <a:t>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feature</a:t>
            </a:r>
            <a:r>
              <a:rPr lang="ro-RO" dirty="0"/>
              <a:t> file</a:t>
            </a:r>
          </a:p>
          <a:p>
            <a:pPr marL="457200" indent="-457200">
              <a:buFont typeface="+mj-lt"/>
              <a:buAutoNum type="arabicPeriod"/>
            </a:pPr>
            <a:r>
              <a:rPr lang="ro-RO" dirty="0" err="1"/>
              <a:t>Add</a:t>
            </a:r>
            <a:r>
              <a:rPr lang="ro-RO" dirty="0"/>
              <a:t> </a:t>
            </a:r>
            <a:r>
              <a:rPr lang="ro-RO" dirty="0" err="1"/>
              <a:t>first</a:t>
            </a:r>
            <a:r>
              <a:rPr lang="ro-RO" dirty="0"/>
              <a:t> test </a:t>
            </a:r>
            <a:r>
              <a:rPr lang="ro-RO" dirty="0" err="1"/>
              <a:t>scenario</a:t>
            </a: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ro-RO" dirty="0" err="1"/>
              <a:t>Add</a:t>
            </a:r>
            <a:r>
              <a:rPr lang="ro-RO" dirty="0"/>
              <a:t> </a:t>
            </a:r>
            <a:r>
              <a:rPr lang="ro-RO" dirty="0" err="1"/>
              <a:t>scenario</a:t>
            </a:r>
            <a:r>
              <a:rPr lang="ro-RO" dirty="0"/>
              <a:t> </a:t>
            </a:r>
            <a:r>
              <a:rPr lang="ro-RO" dirty="0" err="1"/>
              <a:t>outline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Implement steps</a:t>
            </a:r>
          </a:p>
        </p:txBody>
      </p:sp>
    </p:spTree>
    <p:extLst>
      <p:ext uri="{BB962C8B-B14F-4D97-AF65-F5344CB8AC3E}">
        <p14:creationId xmlns:p14="http://schemas.microsoft.com/office/powerpoint/2010/main" val="222520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863D8-6631-9B4A-979D-1C20D9DB3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merican Typewriter" panose="02090604020004020304" pitchFamily="18" charset="77"/>
              </a:rPr>
              <a:t>Serenity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128C-C71C-C646-B8A6-834B35B15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Librărie</a:t>
            </a:r>
            <a:r>
              <a:rPr lang="en-US" dirty="0"/>
              <a:t> open source</a:t>
            </a:r>
          </a:p>
          <a:p>
            <a:r>
              <a:rPr lang="en-US" dirty="0" err="1"/>
              <a:t>Structurează</a:t>
            </a:r>
            <a:r>
              <a:rPr lang="en-US" dirty="0"/>
              <a:t> </a:t>
            </a:r>
            <a:r>
              <a:rPr lang="en-US" dirty="0" err="1"/>
              <a:t>testele</a:t>
            </a:r>
            <a:r>
              <a:rPr lang="en-US" dirty="0"/>
              <a:t> automate</a:t>
            </a:r>
          </a:p>
          <a:p>
            <a:r>
              <a:rPr lang="en-US" dirty="0" err="1"/>
              <a:t>Generează</a:t>
            </a:r>
            <a:r>
              <a:rPr lang="en-US" dirty="0"/>
              <a:t> </a:t>
            </a:r>
            <a:r>
              <a:rPr lang="en-US" dirty="0" err="1"/>
              <a:t>rapoarte</a:t>
            </a:r>
            <a:endParaRPr lang="en-US" dirty="0"/>
          </a:p>
          <a:p>
            <a:r>
              <a:rPr lang="en-US" dirty="0" err="1"/>
              <a:t>Integrează</a:t>
            </a:r>
            <a:r>
              <a:rPr lang="en-US" dirty="0"/>
              <a:t> Selenium </a:t>
            </a:r>
            <a:r>
              <a:rPr lang="en-US" dirty="0" err="1"/>
              <a:t>și</a:t>
            </a:r>
            <a:r>
              <a:rPr lang="en-US" dirty="0"/>
              <a:t> Rest Assured</a:t>
            </a:r>
          </a:p>
          <a:p>
            <a:r>
              <a:rPr lang="en-US" dirty="0" err="1"/>
              <a:t>Instanțiază</a:t>
            </a:r>
            <a:r>
              <a:rPr lang="en-US" dirty="0"/>
              <a:t> automat </a:t>
            </a:r>
            <a:r>
              <a:rPr lang="en-US" dirty="0" err="1"/>
              <a:t>PageObjects</a:t>
            </a:r>
            <a:r>
              <a:rPr lang="en-US" dirty="0"/>
              <a:t> </a:t>
            </a:r>
          </a:p>
          <a:p>
            <a:r>
              <a:rPr lang="en-US" dirty="0" err="1"/>
              <a:t>Disponibil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browsere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412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5064E-AA33-B94B-B6AF-488273F0E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merican Typewriter" panose="02090604020004020304" pitchFamily="18" charset="77"/>
              </a:rPr>
              <a:t>Serenity &amp; Cucumber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D44B7-3C63-1444-B30D-82A642DB8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merican Typewriter" panose="02090604020004020304" pitchFamily="18" charset="77"/>
              </a:rPr>
              <a:t>Legătura</a:t>
            </a:r>
            <a:r>
              <a:rPr lang="en-US" dirty="0">
                <a:latin typeface="American Typewriter" panose="02090604020004020304" pitchFamily="18" charset="77"/>
              </a:rPr>
              <a:t> se face </a:t>
            </a:r>
            <a:r>
              <a:rPr lang="en-US" dirty="0" err="1">
                <a:latin typeface="American Typewriter" panose="02090604020004020304" pitchFamily="18" charset="77"/>
              </a:rPr>
              <a:t>prin</a:t>
            </a:r>
            <a:r>
              <a:rPr lang="en-US" dirty="0">
                <a:latin typeface="American Typewriter" panose="02090604020004020304" pitchFamily="18" charset="77"/>
              </a:rPr>
              <a:t> @</a:t>
            </a:r>
            <a:r>
              <a:rPr lang="en-US" dirty="0" err="1">
                <a:latin typeface="American Typewriter" panose="02090604020004020304" pitchFamily="18" charset="77"/>
              </a:rPr>
              <a:t>RunWith</a:t>
            </a:r>
            <a:r>
              <a:rPr lang="en-US" dirty="0">
                <a:latin typeface="American Typewriter" panose="02090604020004020304" pitchFamily="18" charset="77"/>
              </a:rPr>
              <a:t>(</a:t>
            </a:r>
            <a:r>
              <a:rPr lang="en-US" dirty="0" err="1">
                <a:latin typeface="American Typewriter" panose="02090604020004020304" pitchFamily="18" charset="77"/>
              </a:rPr>
              <a:t>CucumberWithSerenity.class</a:t>
            </a:r>
            <a:r>
              <a:rPr lang="en-US" dirty="0">
                <a:latin typeface="American Typewriter" panose="02090604020004020304" pitchFamily="18" charset="77"/>
              </a:rPr>
              <a:t>)​</a:t>
            </a:r>
          </a:p>
          <a:p>
            <a:r>
              <a:rPr lang="en-US" dirty="0">
                <a:latin typeface="American Typewriter" panose="02090604020004020304" pitchFamily="18" charset="77"/>
              </a:rPr>
              <a:t>Cucumber ne </a:t>
            </a:r>
            <a:r>
              <a:rPr lang="en-US" dirty="0" err="1">
                <a:latin typeface="American Typewriter" panose="02090604020004020304" pitchFamily="18" charset="77"/>
              </a:rPr>
              <a:t>zice</a:t>
            </a:r>
            <a:r>
              <a:rPr lang="en-US" dirty="0">
                <a:latin typeface="American Typewriter" panose="02090604020004020304" pitchFamily="18" charset="77"/>
              </a:rPr>
              <a:t> </a:t>
            </a:r>
            <a:r>
              <a:rPr lang="en-US" dirty="0" err="1">
                <a:latin typeface="American Typewriter" panose="02090604020004020304" pitchFamily="18" charset="77"/>
              </a:rPr>
              <a:t>ce</a:t>
            </a:r>
            <a:r>
              <a:rPr lang="en-US" dirty="0">
                <a:latin typeface="American Typewriter" panose="02090604020004020304" pitchFamily="18" charset="77"/>
              </a:rPr>
              <a:t> </a:t>
            </a:r>
            <a:r>
              <a:rPr lang="en-US" dirty="0" err="1">
                <a:latin typeface="American Typewriter" panose="02090604020004020304" pitchFamily="18" charset="77"/>
              </a:rPr>
              <a:t>să</a:t>
            </a:r>
            <a:r>
              <a:rPr lang="en-US" dirty="0">
                <a:latin typeface="American Typewriter" panose="02090604020004020304" pitchFamily="18" charset="77"/>
              </a:rPr>
              <a:t> </a:t>
            </a:r>
            <a:r>
              <a:rPr lang="en-US" dirty="0" err="1">
                <a:latin typeface="American Typewriter" panose="02090604020004020304" pitchFamily="18" charset="77"/>
              </a:rPr>
              <a:t>testăm</a:t>
            </a:r>
            <a:r>
              <a:rPr lang="en-US" dirty="0">
                <a:latin typeface="American Typewriter" panose="02090604020004020304" pitchFamily="18" charset="77"/>
              </a:rPr>
              <a:t> </a:t>
            </a:r>
            <a:r>
              <a:rPr lang="en-US" dirty="0" err="1">
                <a:latin typeface="American Typewriter" panose="02090604020004020304" pitchFamily="18" charset="77"/>
              </a:rPr>
              <a:t>iar</a:t>
            </a:r>
            <a:r>
              <a:rPr lang="en-US" dirty="0">
                <a:latin typeface="American Typewriter" panose="02090604020004020304" pitchFamily="18" charset="77"/>
              </a:rPr>
              <a:t> Serenity cum </a:t>
            </a:r>
            <a:r>
              <a:rPr lang="en-US" dirty="0" err="1">
                <a:latin typeface="American Typewriter" panose="02090604020004020304" pitchFamily="18" charset="77"/>
              </a:rPr>
              <a:t>să</a:t>
            </a:r>
            <a:r>
              <a:rPr lang="en-US" dirty="0">
                <a:latin typeface="American Typewriter" panose="02090604020004020304" pitchFamily="18" charset="77"/>
              </a:rPr>
              <a:t> </a:t>
            </a:r>
            <a:r>
              <a:rPr lang="en-US" dirty="0" err="1">
                <a:latin typeface="American Typewriter" panose="02090604020004020304" pitchFamily="18" charset="77"/>
              </a:rPr>
              <a:t>testăm</a:t>
            </a:r>
            <a:endParaRPr lang="en-US" dirty="0">
              <a:latin typeface="American Typewriter" panose="02090604020004020304" pitchFamily="18" charset="77"/>
            </a:endParaRPr>
          </a:p>
          <a:p>
            <a:endParaRPr lang="en-US" dirty="0"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50466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9E294-64F9-8843-B272-5B68D9A0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merican Typewriter" panose="02090604020004020304" pitchFamily="18" charset="77"/>
              </a:rPr>
              <a:t>Test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76539-442F-6748-9FCA-0EA81C5EA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Raport</a:t>
            </a:r>
            <a:r>
              <a:rPr lang="en-US" dirty="0"/>
              <a:t> HTML </a:t>
            </a:r>
            <a:r>
              <a:rPr lang="en-US" dirty="0" err="1"/>
              <a:t>detaliat</a:t>
            </a:r>
            <a:endParaRPr lang="en-US" dirty="0"/>
          </a:p>
          <a:p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scenariu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documentat</a:t>
            </a:r>
            <a:r>
              <a:rPr lang="en-US" dirty="0"/>
              <a:t> pas cu pas</a:t>
            </a:r>
          </a:p>
          <a:p>
            <a:r>
              <a:rPr lang="en-US" dirty="0"/>
              <a:t>Include </a:t>
            </a:r>
            <a:r>
              <a:rPr lang="en-US" dirty="0" err="1"/>
              <a:t>datele</a:t>
            </a:r>
            <a:r>
              <a:rPr lang="en-US" dirty="0"/>
              <a:t> de test </a:t>
            </a:r>
            <a:r>
              <a:rPr lang="en-US" dirty="0" err="1"/>
              <a:t>și</a:t>
            </a:r>
            <a:r>
              <a:rPr lang="en-US" dirty="0"/>
              <a:t> screenshots</a:t>
            </a:r>
          </a:p>
          <a:p>
            <a:r>
              <a:rPr lang="en-US" dirty="0"/>
              <a:t>Link direct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tichetele</a:t>
            </a:r>
            <a:r>
              <a:rPr lang="en-US" dirty="0"/>
              <a:t> din Jira</a:t>
            </a:r>
          </a:p>
        </p:txBody>
      </p:sp>
    </p:spTree>
    <p:extLst>
      <p:ext uri="{BB962C8B-B14F-4D97-AF65-F5344CB8AC3E}">
        <p14:creationId xmlns:p14="http://schemas.microsoft.com/office/powerpoint/2010/main" val="2359989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FB30F6-10AE-D143-BE76-A6E067328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9152"/>
            <a:ext cx="5900738" cy="44001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9B8228-B1AF-8B4F-9E77-A61DDF9DB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013" y="2208420"/>
            <a:ext cx="5614987" cy="2755900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F2F46FD4-C317-8F4F-817A-3A7FE3897A1D}"/>
              </a:ext>
            </a:extLst>
          </p:cNvPr>
          <p:cNvSpPr/>
          <p:nvPr/>
        </p:nvSpPr>
        <p:spPr>
          <a:xfrm>
            <a:off x="5614988" y="3186684"/>
            <a:ext cx="1171575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9BE7E8E4-3B5B-6245-9C46-223F4A12691F}"/>
              </a:ext>
            </a:extLst>
          </p:cNvPr>
          <p:cNvSpPr/>
          <p:nvPr/>
        </p:nvSpPr>
        <p:spPr>
          <a:xfrm>
            <a:off x="1414463" y="771525"/>
            <a:ext cx="1885950" cy="557627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FF0FAB-5C4E-4E4C-84F6-9CFBB25876CD}"/>
              </a:ext>
            </a:extLst>
          </p:cNvPr>
          <p:cNvSpPr txBox="1"/>
          <p:nvPr/>
        </p:nvSpPr>
        <p:spPr>
          <a:xfrm>
            <a:off x="1671994" y="865673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to test</a:t>
            </a:r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72AD672E-04B2-1343-BF4F-93D4C95B6064}"/>
              </a:ext>
            </a:extLst>
          </p:cNvPr>
          <p:cNvSpPr/>
          <p:nvPr/>
        </p:nvSpPr>
        <p:spPr>
          <a:xfrm>
            <a:off x="8607527" y="1915526"/>
            <a:ext cx="1347109" cy="585787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4397F6-7849-DD45-A4D7-BEB33473849F}"/>
              </a:ext>
            </a:extLst>
          </p:cNvPr>
          <p:cNvSpPr txBox="1"/>
          <p:nvPr/>
        </p:nvSpPr>
        <p:spPr>
          <a:xfrm>
            <a:off x="8634912" y="2023754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test</a:t>
            </a:r>
          </a:p>
        </p:txBody>
      </p:sp>
    </p:spTree>
    <p:extLst>
      <p:ext uri="{BB962C8B-B14F-4D97-AF65-F5344CB8AC3E}">
        <p14:creationId xmlns:p14="http://schemas.microsoft.com/office/powerpoint/2010/main" val="1048775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9D6E-40EB-4049-AD61-CA41DD059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Partea</a:t>
            </a:r>
            <a:r>
              <a:rPr lang="en-US" sz="2800" dirty="0"/>
              <a:t> </a:t>
            </a:r>
            <a:r>
              <a:rPr lang="en-US" sz="2800" dirty="0" err="1"/>
              <a:t>practica</a:t>
            </a:r>
            <a:r>
              <a:rPr lang="en-US" sz="2800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12BDB-5046-6C44-8ADA-4365A4247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o-RO" dirty="0" err="1"/>
              <a:t>Add</a:t>
            </a:r>
            <a:r>
              <a:rPr lang="ro-RO" dirty="0"/>
              <a:t> </a:t>
            </a:r>
            <a:r>
              <a:rPr lang="ro-RO" dirty="0" err="1"/>
              <a:t>pageObjects</a:t>
            </a:r>
            <a:r>
              <a:rPr lang="ro-RO" dirty="0"/>
              <a:t> -&gt; </a:t>
            </a:r>
            <a:r>
              <a:rPr lang="ro-RO" dirty="0" err="1"/>
              <a:t>extends</a:t>
            </a:r>
            <a:r>
              <a:rPr lang="ro-RO" dirty="0"/>
              <a:t> </a:t>
            </a:r>
            <a:r>
              <a:rPr lang="ro-RO" dirty="0" err="1"/>
              <a:t>PageObject</a:t>
            </a:r>
            <a:r>
              <a:rPr lang="ro-RO" dirty="0"/>
              <a:t> </a:t>
            </a:r>
            <a:r>
              <a:rPr lang="ro-RO" dirty="0" err="1"/>
              <a:t>class</a:t>
            </a: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ro-RO" dirty="0" err="1"/>
              <a:t>Specify</a:t>
            </a:r>
            <a:r>
              <a:rPr lang="ro-RO" dirty="0"/>
              <a:t> browser -&gt; </a:t>
            </a:r>
            <a:r>
              <a:rPr lang="ro-RO" dirty="0" err="1"/>
              <a:t>serenity.conf</a:t>
            </a: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ro-RO" dirty="0" err="1"/>
              <a:t>Run</a:t>
            </a:r>
            <a:r>
              <a:rPr lang="ro-RO" dirty="0"/>
              <a:t> </a:t>
            </a:r>
            <a:r>
              <a:rPr lang="ro-RO" dirty="0" err="1"/>
              <a:t>Scenario</a:t>
            </a: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ro-RO" dirty="0" err="1"/>
              <a:t>Add</a:t>
            </a:r>
            <a:r>
              <a:rPr lang="ro-RO" dirty="0"/>
              <a:t> </a:t>
            </a:r>
            <a:r>
              <a:rPr lang="ro-RO" dirty="0" err="1"/>
              <a:t>runner</a:t>
            </a:r>
            <a:r>
              <a:rPr lang="ro-RO" dirty="0"/>
              <a:t> </a:t>
            </a:r>
            <a:r>
              <a:rPr lang="ro-RO" dirty="0" err="1"/>
              <a:t>class</a:t>
            </a:r>
            <a:endParaRPr lang="ro-RO" dirty="0"/>
          </a:p>
          <a:p>
            <a:pPr marL="960120" lvl="1" indent="-457200">
              <a:buFont typeface="+mj-lt"/>
              <a:buAutoNum type="arabicPeriod"/>
            </a:pPr>
            <a:r>
              <a:rPr lang="ro-RO" dirty="0"/>
              <a:t>@</a:t>
            </a:r>
            <a:r>
              <a:rPr lang="ro-RO" dirty="0" err="1"/>
              <a:t>RunWith</a:t>
            </a:r>
            <a:r>
              <a:rPr lang="ro-RO" dirty="0"/>
              <a:t>(</a:t>
            </a:r>
            <a:r>
              <a:rPr lang="ro-RO" dirty="0" err="1"/>
              <a:t>CucumberWithSerenity.class</a:t>
            </a:r>
            <a:r>
              <a:rPr lang="ro-RO" dirty="0"/>
              <a:t>)</a:t>
            </a:r>
          </a:p>
          <a:p>
            <a:pPr marL="960120" lvl="1" indent="-457200">
              <a:buFont typeface="+mj-lt"/>
              <a:buAutoNum type="arabicPeriod"/>
            </a:pPr>
            <a:r>
              <a:rPr lang="ro-RO" dirty="0"/>
              <a:t>@</a:t>
            </a:r>
            <a:r>
              <a:rPr lang="ro-RO" dirty="0" err="1"/>
              <a:t>CucumberOptions</a:t>
            </a:r>
            <a:r>
              <a:rPr lang="ro-RO" dirty="0"/>
              <a:t> (</a:t>
            </a:r>
            <a:r>
              <a:rPr lang="ro-RO" dirty="0" err="1"/>
              <a:t>features</a:t>
            </a:r>
            <a:r>
              <a:rPr lang="ro-RO" dirty="0"/>
              <a:t>, </a:t>
            </a:r>
            <a:r>
              <a:rPr lang="ro-RO" dirty="0" err="1"/>
              <a:t>glue</a:t>
            </a:r>
            <a:r>
              <a:rPr lang="ro-RO" dirty="0"/>
              <a:t>, </a:t>
            </a:r>
            <a:r>
              <a:rPr lang="ro-RO" dirty="0" err="1"/>
              <a:t>tags</a:t>
            </a:r>
            <a:r>
              <a:rPr lang="ro-RO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Check test report -&gt; target/site/serenity/</a:t>
            </a:r>
            <a:r>
              <a:rPr lang="en-US" dirty="0" err="1"/>
              <a:t>index.html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10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9D6E-40EB-4049-AD61-CA41DD059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Partea</a:t>
            </a:r>
            <a:r>
              <a:rPr lang="en-US" sz="2800" dirty="0"/>
              <a:t> </a:t>
            </a:r>
            <a:r>
              <a:rPr lang="en-US" sz="2800" dirty="0" err="1"/>
              <a:t>practica</a:t>
            </a:r>
            <a:r>
              <a:rPr lang="en-US" sz="2800" dirty="0"/>
              <a:t>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12BDB-5046-6C44-8ADA-4365A4247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o-RO" dirty="0" err="1"/>
              <a:t>Write</a:t>
            </a:r>
            <a:r>
              <a:rPr lang="ro-RO" dirty="0"/>
              <a:t> test </a:t>
            </a:r>
            <a:r>
              <a:rPr lang="ro-RO" dirty="0" err="1"/>
              <a:t>scenario</a:t>
            </a:r>
            <a:r>
              <a:rPr lang="ro-RO" dirty="0"/>
              <a:t> for an </a:t>
            </a:r>
            <a:r>
              <a:rPr lang="ro-RO" dirty="0" err="1"/>
              <a:t>api</a:t>
            </a:r>
            <a:r>
              <a:rPr lang="ro-RO" dirty="0"/>
              <a:t> </a:t>
            </a:r>
            <a:r>
              <a:rPr lang="ro-RO" dirty="0" err="1"/>
              <a:t>call</a:t>
            </a: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ro-RO" dirty="0" err="1"/>
              <a:t>Implement</a:t>
            </a:r>
            <a:r>
              <a:rPr lang="ro-RO" dirty="0"/>
              <a:t> </a:t>
            </a:r>
            <a:r>
              <a:rPr lang="ro-RO" dirty="0" err="1"/>
              <a:t>steps</a:t>
            </a:r>
            <a:r>
              <a:rPr lang="ro-RO" dirty="0"/>
              <a:t> </a:t>
            </a:r>
            <a:r>
              <a:rPr lang="ro-RO" dirty="0" err="1"/>
              <a:t>using</a:t>
            </a:r>
            <a:r>
              <a:rPr lang="ro-RO" dirty="0"/>
              <a:t> </a:t>
            </a:r>
            <a:r>
              <a:rPr lang="ro-RO" dirty="0" err="1"/>
              <a:t>SerenityRest</a:t>
            </a: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ro-RO" dirty="0" err="1"/>
              <a:t>Run</a:t>
            </a:r>
            <a:r>
              <a:rPr lang="ro-RO" dirty="0"/>
              <a:t> </a:t>
            </a:r>
            <a:r>
              <a:rPr lang="ro-RO" dirty="0" err="1"/>
              <a:t>scenario</a:t>
            </a: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Check test report -&gt; target/site/serenity/</a:t>
            </a:r>
            <a:r>
              <a:rPr lang="en-US" dirty="0" err="1"/>
              <a:t>index.html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18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23D2A-EC9D-7B4B-BCB3-D65380C44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Documentație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77CC9-C1CB-B443-9906-818CDD09C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Cucumber</a:t>
            </a:r>
            <a:endParaRPr lang="en-US" dirty="0"/>
          </a:p>
          <a:p>
            <a:r>
              <a:rPr lang="en-US" dirty="0">
                <a:hlinkClick r:id="rId3"/>
              </a:rPr>
              <a:t>Serenity &amp; Cucumber</a:t>
            </a:r>
            <a:endParaRPr lang="en-US" dirty="0"/>
          </a:p>
          <a:p>
            <a:r>
              <a:rPr lang="en-US" dirty="0">
                <a:hlinkClick r:id="rId4"/>
              </a:rPr>
              <a:t>Gherkin</a:t>
            </a:r>
            <a:endParaRPr lang="en-US" dirty="0"/>
          </a:p>
          <a:p>
            <a:r>
              <a:rPr lang="en-US" dirty="0">
                <a:hlinkClick r:id="rId5"/>
              </a:rPr>
              <a:t>Rest Assured</a:t>
            </a:r>
            <a:endParaRPr lang="en-US" dirty="0"/>
          </a:p>
          <a:p>
            <a:r>
              <a:rPr lang="en-US" dirty="0">
                <a:hlinkClick r:id="rId6"/>
              </a:rPr>
              <a:t>Test automation university</a:t>
            </a:r>
            <a:endParaRPr lang="en-US" dirty="0"/>
          </a:p>
          <a:p>
            <a:r>
              <a:rPr lang="en-US" dirty="0">
                <a:hlinkClick r:id="rId7"/>
              </a:rPr>
              <a:t>How to write good gherkin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118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E032D-2CFB-C146-BAB3-6CA6DFBE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E4DCD-87C7-6445-987D-D7D271A9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Detalii de contact:</a:t>
            </a:r>
          </a:p>
          <a:p>
            <a:r>
              <a:rPr lang="en-US" dirty="0"/>
              <a:t>Email: </a:t>
            </a:r>
            <a:r>
              <a:rPr lang="en-US" dirty="0" err="1"/>
              <a:t>elena.paduraru@kambi.com</a:t>
            </a:r>
            <a:endParaRPr lang="en-US" dirty="0"/>
          </a:p>
          <a:p>
            <a:r>
              <a:rPr lang="en-US" dirty="0" err="1">
                <a:hlinkClick r:id="rId2"/>
              </a:rPr>
              <a:t>Linkedin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51958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11635</TotalTime>
  <Words>306</Words>
  <Application>Microsoft Macintosh PowerPoint</Application>
  <PresentationFormat>Widescreen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American Typewriter</vt:lpstr>
      <vt:lpstr>Corbel</vt:lpstr>
      <vt:lpstr>Wingdings 2</vt:lpstr>
      <vt:lpstr>Frame</vt:lpstr>
      <vt:lpstr>Hai la pescuit cu Serenity&amp;Cucumber</vt:lpstr>
      <vt:lpstr>Agenda</vt:lpstr>
      <vt:lpstr>Cucumber</vt:lpstr>
      <vt:lpstr>Gherkin</vt:lpstr>
      <vt:lpstr>Gherkin</vt:lpstr>
      <vt:lpstr>Structura Cucumber</vt:lpstr>
      <vt:lpstr>Partea practica (1)</vt:lpstr>
      <vt:lpstr>Serenity</vt:lpstr>
      <vt:lpstr>Serenity &amp; Cucumber</vt:lpstr>
      <vt:lpstr>Test reports</vt:lpstr>
      <vt:lpstr>PowerPoint Presentation</vt:lpstr>
      <vt:lpstr>Partea practica (2)</vt:lpstr>
      <vt:lpstr>Partea practica (3)</vt:lpstr>
      <vt:lpstr>Documentație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 la pescuit cu Serenity&amp;Cucumber</dc:title>
  <dc:creator>Elena Paduraru</dc:creator>
  <cp:lastModifiedBy>Elena Paduraru</cp:lastModifiedBy>
  <cp:revision>29</cp:revision>
  <dcterms:created xsi:type="dcterms:W3CDTF">2019-10-17T15:14:33Z</dcterms:created>
  <dcterms:modified xsi:type="dcterms:W3CDTF">2019-11-06T15:37:08Z</dcterms:modified>
</cp:coreProperties>
</file>